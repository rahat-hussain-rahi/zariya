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54864" cy="51435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1E3A8A">
              <a:alpha val="40000"/>
            </a:srgbClr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0" y="2560320"/>
            <a:ext cx="2011680" cy="2011680"/>
          </a:xfrm>
          <a:prstGeom prst="ellipse">
            <a:avLst/>
          </a:prstGeom>
          <a:solidFill>
            <a:srgbClr val="2A9D8F">
              <a:alpha val="25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2560320" cy="2560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92608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spc="8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ZARIYA</a:t>
            </a:r>
            <a:endParaRPr lang="en-US" sz="5800" dirty="0"/>
          </a:p>
        </p:txBody>
      </p:sp>
      <p:sp>
        <p:nvSpPr>
          <p:cNvPr id="8" name="Text 5"/>
          <p:cNvSpPr/>
          <p:nvPr/>
        </p:nvSpPr>
        <p:spPr>
          <a:xfrm>
            <a:off x="457200" y="37490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spc="500" kern="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BRIDGE OF LIFE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422452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Playbook  ·  Complete Identity Guide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/  BRAND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108960" cy="3108960"/>
          </a:xfrm>
          <a:prstGeom prst="rect">
            <a:avLst>
              <a:gd name="adj" fmla="val 2941"/>
            </a:avLst>
          </a:prstGeom>
          <a:solidFill>
            <a:srgbClr val="EFF6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188720"/>
            <a:ext cx="2834640" cy="2834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931920" y="1097280"/>
            <a:ext cx="4846320" cy="713232"/>
          </a:xfrm>
          <a:prstGeom prst="rect">
            <a:avLst/>
          </a:prstGeom>
          <a:solidFill>
            <a:srgbClr val="F7FAFC"/>
          </a:solidFill>
          <a:ln/>
          <a:effectLst>
            <a:outerShdw sx="100000" sy="100000" kx="0" ky="0" algn="bl" rotWithShape="0" blurRad="76200" dist="25400" dir="8100000">
              <a:srgbClr val="1E3A8A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931920" y="1097280"/>
            <a:ext cx="54864" cy="713232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8" name="Text 5"/>
          <p:cNvSpPr/>
          <p:nvPr/>
        </p:nvSpPr>
        <p:spPr>
          <a:xfrm>
            <a:off x="4114800" y="113385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NAME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114800" y="138988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Zariya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3931920" y="1965960"/>
            <a:ext cx="4846320" cy="713232"/>
          </a:xfrm>
          <a:prstGeom prst="rect">
            <a:avLst/>
          </a:prstGeom>
          <a:solidFill>
            <a:srgbClr val="F7FAFC"/>
          </a:solidFill>
          <a:ln/>
          <a:effectLst>
            <a:outerShdw sx="100000" sy="100000" kx="0" ky="0" algn="bl" rotWithShape="0" blurRad="76200" dist="25400" dir="8100000">
              <a:srgbClr val="1E3A8A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931920" y="1965960"/>
            <a:ext cx="54864" cy="71323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2" name="Text 9"/>
          <p:cNvSpPr/>
          <p:nvPr/>
        </p:nvSpPr>
        <p:spPr>
          <a:xfrm>
            <a:off x="4114800" y="200253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TAGLINE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114800" y="225856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 Bridge of Life"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3931920" y="2834640"/>
            <a:ext cx="4846320" cy="713232"/>
          </a:xfrm>
          <a:prstGeom prst="rect">
            <a:avLst/>
          </a:prstGeom>
          <a:solidFill>
            <a:srgbClr val="F7FAFC"/>
          </a:solidFill>
          <a:ln/>
          <a:effectLst>
            <a:outerShdw sx="100000" sy="100000" kx="0" ky="0" algn="bl" rotWithShape="0" blurRad="76200" dist="25400" dir="8100000">
              <a:srgbClr val="1E3A8A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931920" y="2834640"/>
            <a:ext cx="54864" cy="71323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6" name="Text 13"/>
          <p:cNvSpPr/>
          <p:nvPr/>
        </p:nvSpPr>
        <p:spPr>
          <a:xfrm>
            <a:off x="4114800" y="28712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114800" y="312724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Donor Portal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3931920" y="3703320"/>
            <a:ext cx="4846320" cy="713232"/>
          </a:xfrm>
          <a:prstGeom prst="rect">
            <a:avLst/>
          </a:prstGeom>
          <a:solidFill>
            <a:srgbClr val="F7FAFC"/>
          </a:solidFill>
          <a:ln/>
          <a:effectLst>
            <a:outerShdw sx="100000" sy="100000" kx="0" ky="0" algn="bl" rotWithShape="0" blurRad="76200" dist="25400" dir="8100000">
              <a:srgbClr val="1E3A8A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931920" y="3703320"/>
            <a:ext cx="54864" cy="713232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20" name="Text 17"/>
          <p:cNvSpPr/>
          <p:nvPr/>
        </p:nvSpPr>
        <p:spPr>
          <a:xfrm>
            <a:off x="4114800" y="3739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IDEA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114800" y="399592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flows through connection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365760" y="4343400"/>
            <a:ext cx="8412480" cy="64008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3" name="Text 20"/>
          <p:cNvSpPr/>
          <p:nvPr/>
        </p:nvSpPr>
        <p:spPr>
          <a:xfrm>
            <a:off x="502920" y="4370832"/>
            <a:ext cx="8229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Zariya means "a medium of connection" — a digital bridge enabling life-saving help through trust, speed, and accessibility.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/  BRAND PURPOSE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 Create a Trusted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Digital Ecosystem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2103120"/>
            <a:ext cx="2606040" cy="256032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2103120"/>
            <a:ext cx="2606040" cy="6400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19456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👤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Donors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456432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 and offer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life-saving help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37560" y="2103120"/>
            <a:ext cx="2606040" cy="256032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2103120"/>
            <a:ext cx="2606040" cy="6400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219456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🏥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337560" y="30175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337560" y="3456432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nearby support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quickly and easily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2103120"/>
            <a:ext cx="2606040" cy="256032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2103120"/>
            <a:ext cx="260604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219456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🔐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217920" y="30175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17920" y="3456432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 safety,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&amp; transparency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solidFill>
            <a:srgbClr val="2A9D8F">
              <a:alpha val="2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platform exists to connect life with life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/  BRAND VALUES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114800" cy="1051560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76200" dist="25400" dir="8100000">
              <a:srgbClr val="1E3A8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38912" y="1143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❤️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43000" y="11247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Humanity First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143560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before process. Every decision leads with compassion and care for human life.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2286000"/>
            <a:ext cx="4114800" cy="105156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76200" dist="25400" dir="8100000">
              <a:srgbClr val="1E3A8A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38912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🔐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143000" y="23591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&amp; Security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267004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Donors and patients can rely on Zariya. Privacy, verification, and data safety are non-negotiable.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3520440"/>
            <a:ext cx="4114800" cy="1051560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76200" dist="25400" dir="8100000">
              <a:srgbClr val="1E3A8A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38912" y="3611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143000" y="35935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Response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3000" y="390448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emergencies, speed saves lives. The platform is built to connect people in seconds.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46320" y="1051560"/>
            <a:ext cx="4114800" cy="105156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76200" dist="25400" dir="8100000">
              <a:srgbClr val="1E3A8A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19472" y="1143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🌍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5623560" y="11247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Accessibility for All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623560" y="143560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barriers to help. Zariya is designed to work for everyone, everywhere.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46320" y="2286000"/>
            <a:ext cx="4114800" cy="1051560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76200" dist="25400" dir="8100000">
              <a:srgbClr val="1E3A8A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19472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🤝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5623560" y="23591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 &amp; Care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623560" y="267004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just a platform — a network of human relationships built on mutual support.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/  COLOR PALETTE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Visual Identity Colors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572768"/>
            <a:ext cx="2560320" cy="13716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2944368"/>
            <a:ext cx="2560320" cy="8686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29992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Blue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32918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#1E3A8A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34930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· Stability · System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83280" y="1572768"/>
            <a:ext cx="2560320" cy="13716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1" name="Shape 9"/>
          <p:cNvSpPr/>
          <p:nvPr/>
        </p:nvSpPr>
        <p:spPr>
          <a:xfrm>
            <a:off x="3383280" y="2944368"/>
            <a:ext cx="2560320" cy="8686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3493008" y="29992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Teal Green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93008" y="32918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#2A9D8F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93008" y="34930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Healing · Life · Success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0" y="1280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00800" y="1572768"/>
            <a:ext cx="2377440" cy="13716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0" y="2944368"/>
            <a:ext cx="2377440" cy="8686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6510528" y="299923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 Red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10528" y="32918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#E63946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10528" y="34930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Urgency · Alerts · Donation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3977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SIGNATURE GRADIENT  #1E3A8A → #2A9D8F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4297680"/>
            <a:ext cx="429768" cy="5029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23" name="Shape 21"/>
          <p:cNvSpPr/>
          <p:nvPr/>
        </p:nvSpPr>
        <p:spPr>
          <a:xfrm>
            <a:off x="868680" y="4297680"/>
            <a:ext cx="429768" cy="5029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24" name="Shape 22"/>
          <p:cNvSpPr/>
          <p:nvPr/>
        </p:nvSpPr>
        <p:spPr>
          <a:xfrm>
            <a:off x="1280160" y="4297680"/>
            <a:ext cx="429768" cy="5029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25" name="Shape 23"/>
          <p:cNvSpPr/>
          <p:nvPr/>
        </p:nvSpPr>
        <p:spPr>
          <a:xfrm>
            <a:off x="1691640" y="4297680"/>
            <a:ext cx="429768" cy="5029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26" name="Shape 24"/>
          <p:cNvSpPr/>
          <p:nvPr/>
        </p:nvSpPr>
        <p:spPr>
          <a:xfrm>
            <a:off x="2103120" y="4297680"/>
            <a:ext cx="429768" cy="5029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27" name="Shape 25"/>
          <p:cNvSpPr/>
          <p:nvPr/>
        </p:nvSpPr>
        <p:spPr>
          <a:xfrm>
            <a:off x="2514600" y="4297680"/>
            <a:ext cx="429768" cy="5029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28" name="Shape 26"/>
          <p:cNvSpPr/>
          <p:nvPr/>
        </p:nvSpPr>
        <p:spPr>
          <a:xfrm>
            <a:off x="2926080" y="4297680"/>
            <a:ext cx="429768" cy="5029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29" name="Shape 27"/>
          <p:cNvSpPr/>
          <p:nvPr/>
        </p:nvSpPr>
        <p:spPr>
          <a:xfrm>
            <a:off x="3337560" y="4297680"/>
            <a:ext cx="429768" cy="5029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0" name="Shape 28"/>
          <p:cNvSpPr/>
          <p:nvPr/>
        </p:nvSpPr>
        <p:spPr>
          <a:xfrm>
            <a:off x="3749040" y="4297680"/>
            <a:ext cx="429768" cy="5029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1" name="Shape 29"/>
          <p:cNvSpPr/>
          <p:nvPr/>
        </p:nvSpPr>
        <p:spPr>
          <a:xfrm>
            <a:off x="4160520" y="4297680"/>
            <a:ext cx="429768" cy="5029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2" name="Shape 30"/>
          <p:cNvSpPr/>
          <p:nvPr/>
        </p:nvSpPr>
        <p:spPr>
          <a:xfrm>
            <a:off x="4572000" y="4297680"/>
            <a:ext cx="429768" cy="5029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3" name="Shape 31"/>
          <p:cNvSpPr/>
          <p:nvPr/>
        </p:nvSpPr>
        <p:spPr>
          <a:xfrm>
            <a:off x="4983480" y="4297680"/>
            <a:ext cx="429768" cy="5029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4" name="Shape 32"/>
          <p:cNvSpPr/>
          <p:nvPr/>
        </p:nvSpPr>
        <p:spPr>
          <a:xfrm>
            <a:off x="5394960" y="4297680"/>
            <a:ext cx="429768" cy="5029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5" name="Shape 33"/>
          <p:cNvSpPr/>
          <p:nvPr/>
        </p:nvSpPr>
        <p:spPr>
          <a:xfrm>
            <a:off x="5806440" y="4297680"/>
            <a:ext cx="429768" cy="5029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6" name="Shape 34"/>
          <p:cNvSpPr/>
          <p:nvPr/>
        </p:nvSpPr>
        <p:spPr>
          <a:xfrm>
            <a:off x="6217920" y="4297680"/>
            <a:ext cx="429768" cy="5029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7" name="Shape 35"/>
          <p:cNvSpPr/>
          <p:nvPr/>
        </p:nvSpPr>
        <p:spPr>
          <a:xfrm>
            <a:off x="6629400" y="4297680"/>
            <a:ext cx="429768" cy="5029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8" name="Shape 36"/>
          <p:cNvSpPr/>
          <p:nvPr/>
        </p:nvSpPr>
        <p:spPr>
          <a:xfrm>
            <a:off x="7040880" y="4297680"/>
            <a:ext cx="429768" cy="5029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9" name="Shape 37"/>
          <p:cNvSpPr/>
          <p:nvPr/>
        </p:nvSpPr>
        <p:spPr>
          <a:xfrm>
            <a:off x="7452360" y="4297680"/>
            <a:ext cx="429768" cy="5029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0" name="Shape 38"/>
          <p:cNvSpPr/>
          <p:nvPr/>
        </p:nvSpPr>
        <p:spPr>
          <a:xfrm>
            <a:off x="7863840" y="4297680"/>
            <a:ext cx="429768" cy="5029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41" name="Shape 39"/>
          <p:cNvSpPr/>
          <p:nvPr/>
        </p:nvSpPr>
        <p:spPr>
          <a:xfrm>
            <a:off x="8275320" y="4297680"/>
            <a:ext cx="429768" cy="502920"/>
          </a:xfrm>
          <a:prstGeom prst="rect">
            <a:avLst/>
          </a:prstGeom>
          <a:solidFill>
            <a:srgbClr val="2A9D8F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/  TYPOGRAPHY SYSTEM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023360" cy="3566160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76200" dist="25400" dir="8100000">
              <a:srgbClr val="1E3A8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1704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FONT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444752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48640" y="217627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 Bb Cc Dd Ee Ff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5786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1 2 3 4 5 6 7 8 9 0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299923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 Heading</a:t>
            </a:r>
            <a:endParaRPr lang="en-US" sz="1260" dirty="0"/>
          </a:p>
        </p:txBody>
      </p:sp>
      <p:sp>
        <p:nvSpPr>
          <p:cNvPr id="10" name="Text 8"/>
          <p:cNvSpPr/>
          <p:nvPr/>
        </p:nvSpPr>
        <p:spPr>
          <a:xfrm>
            <a:off x="2651760" y="299923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28pt  ·  Bold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33832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 Subhead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51760" y="338328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20pt  ·  Semi-Bold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37673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Text</a:t>
            </a:r>
            <a:endParaRPr lang="en-US" sz="840" dirty="0"/>
          </a:p>
        </p:txBody>
      </p:sp>
      <p:sp>
        <p:nvSpPr>
          <p:cNvPr id="14" name="Text 12"/>
          <p:cNvSpPr/>
          <p:nvPr/>
        </p:nvSpPr>
        <p:spPr>
          <a:xfrm>
            <a:off x="2651760" y="376732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14pt  ·  Regular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" y="415137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Caption / Label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2651760" y="415137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10pt  ·  Medium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54880" y="1051560"/>
            <a:ext cx="4023360" cy="356616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76200" dist="25400" dir="8100000">
              <a:srgbClr val="1E3A8A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37760" y="11704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ALTERNATIVE FONTS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937760" y="15087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Poppins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4937760" y="2148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Friendly UI — rounded, approachable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2423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USE: Mobile / App UI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937760" y="30632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Montserrat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4937760" y="3703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Bold, strong presence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37760" y="39776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USE: Headers &amp; Marketing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4709160"/>
            <a:ext cx="841248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7274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Headings: Bold/Semi-Bold   ·   Body: Regular   ·   Buttons: Medium Weight   ·   Always left-align body text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/  LOGO USAGE RULES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20040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097280"/>
            <a:ext cx="2743200" cy="2560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3794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White Background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749040" y="1005840"/>
            <a:ext cx="3200400" cy="2743200"/>
          </a:xfrm>
          <a:prstGeom prst="rect">
            <a:avLst/>
          </a:prstGeom>
          <a:solidFill>
            <a:srgbClr val="1E3A8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40" y="1097280"/>
            <a:ext cx="2743200" cy="2560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749040" y="3794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Dark Background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7132320" y="1005840"/>
            <a:ext cx="1645920" cy="54864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1" name="Text 7"/>
          <p:cNvSpPr/>
          <p:nvPr/>
        </p:nvSpPr>
        <p:spPr>
          <a:xfrm>
            <a:off x="7150608" y="10058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7516368" y="10058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full logo on landing pages &amp; web headers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7132320" y="1664208"/>
            <a:ext cx="1645920" cy="54864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4" name="Text 10"/>
          <p:cNvSpPr/>
          <p:nvPr/>
        </p:nvSpPr>
        <p:spPr>
          <a:xfrm>
            <a:off x="7150608" y="1664208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7516368" y="166420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Z-icon only for app icon / favicon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7132320" y="2322576"/>
            <a:ext cx="1645920" cy="54864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7" name="Text 13"/>
          <p:cNvSpPr/>
          <p:nvPr/>
        </p:nvSpPr>
        <p:spPr>
          <a:xfrm>
            <a:off x="7150608" y="2322576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7516368" y="2322576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 clear space equal to logo height around it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7132320" y="2980944"/>
            <a:ext cx="1645920" cy="548640"/>
          </a:xfrm>
          <a:prstGeom prst="rect">
            <a:avLst/>
          </a:prstGeom>
          <a:solidFill>
            <a:srgbClr val="FFF1F2"/>
          </a:solidFill>
          <a:ln/>
        </p:spPr>
      </p:sp>
      <p:sp>
        <p:nvSpPr>
          <p:cNvPr id="20" name="Text 16"/>
          <p:cNvSpPr/>
          <p:nvPr/>
        </p:nvSpPr>
        <p:spPr>
          <a:xfrm>
            <a:off x="7150608" y="2980944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❌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7516368" y="2980944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stretch, rotate, or distort the logo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7132320" y="3639312"/>
            <a:ext cx="1645920" cy="548640"/>
          </a:xfrm>
          <a:prstGeom prst="rect">
            <a:avLst/>
          </a:prstGeom>
          <a:solidFill>
            <a:srgbClr val="FFF1F2"/>
          </a:solidFill>
          <a:ln/>
        </p:spPr>
      </p:sp>
      <p:sp>
        <p:nvSpPr>
          <p:cNvPr id="23" name="Text 19"/>
          <p:cNvSpPr/>
          <p:nvPr/>
        </p:nvSpPr>
        <p:spPr>
          <a:xfrm>
            <a:off x="7150608" y="3639312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❌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7516368" y="3639312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change colors outside brand palette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7132320" y="4297680"/>
            <a:ext cx="1645920" cy="548640"/>
          </a:xfrm>
          <a:prstGeom prst="rect">
            <a:avLst/>
          </a:prstGeom>
          <a:solidFill>
            <a:srgbClr val="FFF1F2"/>
          </a:solidFill>
          <a:ln/>
        </p:spPr>
      </p:sp>
      <p:sp>
        <p:nvSpPr>
          <p:cNvPr id="26" name="Text 22"/>
          <p:cNvSpPr/>
          <p:nvPr/>
        </p:nvSpPr>
        <p:spPr>
          <a:xfrm>
            <a:off x="7150608" y="429768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❌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7516368" y="42976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place on busy or clashing backgrounds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/  UI DESIGN LANGUAGE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560320" cy="393192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88720"/>
            <a:ext cx="2286000" cy="35661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188720"/>
            <a:ext cx="2286000" cy="54864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21615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🩸 Zariya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1874520"/>
            <a:ext cx="2103120" cy="36576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" y="1892808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 Search blood group...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94360" y="2377440"/>
            <a:ext cx="210312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1E3A8A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432304"/>
            <a:ext cx="411480" cy="411480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4323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A+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15568" y="24505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Ahmed K.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15568" y="26791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Lahore · 2km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103120" y="2496312"/>
            <a:ext cx="457200" cy="2743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6" name="Text 14"/>
          <p:cNvSpPr/>
          <p:nvPr/>
        </p:nvSpPr>
        <p:spPr>
          <a:xfrm>
            <a:off x="2103120" y="24963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594360" y="3200400"/>
            <a:ext cx="210312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1E3A8A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3255264"/>
            <a:ext cx="411480" cy="41148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2552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B+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115568" y="327355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Sara M.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5568" y="350215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Johar · 5km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2103120" y="3319272"/>
            <a:ext cx="457200" cy="2743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3" name="Text 21"/>
          <p:cNvSpPr/>
          <p:nvPr/>
        </p:nvSpPr>
        <p:spPr>
          <a:xfrm>
            <a:off x="2103120" y="33192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594360" y="4023360"/>
            <a:ext cx="210312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1E3A8A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0080" y="4078224"/>
            <a:ext cx="411480" cy="41148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0782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O-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115568" y="409651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Bilal R.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15568" y="43251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Gulberg · 8km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103120" y="4142232"/>
            <a:ext cx="457200" cy="2743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0" name="Text 28"/>
          <p:cNvSpPr/>
          <p:nvPr/>
        </p:nvSpPr>
        <p:spPr>
          <a:xfrm>
            <a:off x="2103120" y="41422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3291840" y="1005840"/>
            <a:ext cx="54864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1E3A8A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91840" y="1005840"/>
            <a:ext cx="54864" cy="11887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3" name="Text 31"/>
          <p:cNvSpPr/>
          <p:nvPr/>
        </p:nvSpPr>
        <p:spPr>
          <a:xfrm>
            <a:off x="3456432" y="105156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 DIRECTION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456432" y="1353312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Medical-Tech UI   ·   Soft shadows   ·   Rounded corners 8-16px   ·   Minimal visual clutter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91840" y="2377440"/>
            <a:ext cx="54864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1E3A8A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91840" y="2377440"/>
            <a:ext cx="54864" cy="11887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7" name="Text 35"/>
          <p:cNvSpPr/>
          <p:nvPr/>
        </p:nvSpPr>
        <p:spPr>
          <a:xfrm>
            <a:off x="3456432" y="242316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EMOTION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456432" y="2724912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Calm &amp; Trustworthy   ·   Fast &amp; Responsive   ·   Human-centered Design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291840" y="3749040"/>
            <a:ext cx="54864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1E3A8A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291840" y="3749040"/>
            <a:ext cx="54864" cy="11887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41" name="Text 39"/>
          <p:cNvSpPr/>
          <p:nvPr/>
        </p:nvSpPr>
        <p:spPr>
          <a:xfrm>
            <a:off x="3456432" y="379476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456432" y="4096512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Cards for donor profiles   ·   Search-first interface   ·   City &amp; blood group filters   ·   One-click contact actions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/  BRAND PERSONALITY &amp; TONE OF VOICE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Zariya Speaks &amp; Acts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114800" cy="100584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389888"/>
            <a:ext cx="38404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"Calm, intelligent, and compassionate digital helper that connects people in urgent need."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514600"/>
            <a:ext cx="256032" cy="256032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5146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Respectful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06040" y="2514600"/>
            <a:ext cx="256032" cy="256032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5146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2514600"/>
            <a:ext cx="256032" cy="256032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1" name="Text 9"/>
          <p:cNvSpPr/>
          <p:nvPr/>
        </p:nvSpPr>
        <p:spPr>
          <a:xfrm>
            <a:off x="5074920" y="25146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Emotional — not dramatic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903720" y="2514600"/>
            <a:ext cx="256032" cy="256032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3" name="Text 11"/>
          <p:cNvSpPr/>
          <p:nvPr/>
        </p:nvSpPr>
        <p:spPr>
          <a:xfrm>
            <a:off x="7223760" y="25146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Trust-oriented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2926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B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TONE EXAMPLES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4023360" cy="658368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3246120"/>
            <a:ext cx="54864" cy="6583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2918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DO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94360" y="35387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 donor is available near you."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023360"/>
            <a:ext cx="4023360" cy="658368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4023360"/>
            <a:ext cx="54864" cy="6583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40690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DO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94360" y="43159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"Help is just a connection away."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54880" y="3246120"/>
            <a:ext cx="4023360" cy="658368"/>
          </a:xfrm>
          <a:prstGeom prst="rect">
            <a:avLst/>
          </a:prstGeom>
          <a:solidFill>
            <a:srgbClr val="4C0519"/>
          </a:solidFill>
          <a:ln/>
        </p:spPr>
      </p:sp>
      <p:sp>
        <p:nvSpPr>
          <p:cNvPr id="24" name="Shape 22"/>
          <p:cNvSpPr/>
          <p:nvPr/>
        </p:nvSpPr>
        <p:spPr>
          <a:xfrm>
            <a:off x="4754880" y="3246120"/>
            <a:ext cx="54864" cy="65836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5" name="Text 23"/>
          <p:cNvSpPr/>
          <p:nvPr/>
        </p:nvSpPr>
        <p:spPr>
          <a:xfrm>
            <a:off x="4892040" y="32918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DON'T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892040" y="35387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"URGENT EMERGENCY!!!"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754880" y="4023360"/>
            <a:ext cx="4023360" cy="658368"/>
          </a:xfrm>
          <a:prstGeom prst="rect">
            <a:avLst/>
          </a:prstGeom>
          <a:solidFill>
            <a:srgbClr val="4C0519"/>
          </a:solidFill>
          <a:ln/>
        </p:spPr>
      </p:sp>
      <p:sp>
        <p:nvSpPr>
          <p:cNvPr id="28" name="Shape 26"/>
          <p:cNvSpPr/>
          <p:nvPr/>
        </p:nvSpPr>
        <p:spPr>
          <a:xfrm>
            <a:off x="4754880" y="4023360"/>
            <a:ext cx="54864" cy="65836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9" name="Text 27"/>
          <p:cNvSpPr/>
          <p:nvPr/>
        </p:nvSpPr>
        <p:spPr>
          <a:xfrm>
            <a:off x="4892040" y="40690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DON'T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892040" y="43159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"You MUST act NOW or it's too late!"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/  APPLICATION EXPERIENCE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651760" cy="3931920"/>
          </a:xfrm>
          <a:prstGeom prst="rect">
            <a:avLst/>
          </a:prstGeom>
          <a:solidFill>
            <a:srgbClr val="F7FAFC"/>
          </a:solidFill>
          <a:ln/>
          <a:effectLst>
            <a:outerShdw sx="100000" sy="100000" kx="0" ky="0" algn="bl" rotWithShape="0" blurRad="76200" dist="25400" dir="8100000">
              <a:srgbClr val="1E3A8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2651760" cy="54864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Page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645920"/>
            <a:ext cx="2377440" cy="1463040"/>
          </a:xfrm>
          <a:prstGeom prst="rect">
            <a:avLst/>
          </a:prstGeom>
          <a:solidFill>
            <a:srgbClr val="E8EEF8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64592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🔐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502920" y="3218688"/>
            <a:ext cx="137160" cy="137160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318211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 gradient background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3602736"/>
            <a:ext cx="137160" cy="137160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" y="35661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Centered Zariya logo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3986784"/>
            <a:ext cx="137160" cy="137160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" y="395020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clean login form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4370832"/>
            <a:ext cx="137160" cy="137160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" y="433425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color CTA buttons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46120" y="1005840"/>
            <a:ext cx="2651760" cy="3931920"/>
          </a:xfrm>
          <a:prstGeom prst="rect">
            <a:avLst/>
          </a:prstGeom>
          <a:solidFill>
            <a:srgbClr val="F7FAFC"/>
          </a:solidFill>
          <a:ln/>
          <a:effectLst>
            <a:outerShdw sx="100000" sy="100000" kx="0" ky="0" algn="bl" rotWithShape="0" blurRad="76200" dist="25400" dir="8100000">
              <a:srgbClr val="1E3A8A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46120" y="1005840"/>
            <a:ext cx="2651760" cy="54864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9" name="Text 17"/>
          <p:cNvSpPr/>
          <p:nvPr/>
        </p:nvSpPr>
        <p:spPr>
          <a:xfrm>
            <a:off x="3337560" y="10058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383280" y="1645920"/>
            <a:ext cx="2377440" cy="1463040"/>
          </a:xfrm>
          <a:prstGeom prst="rect">
            <a:avLst/>
          </a:prstGeom>
          <a:solidFill>
            <a:srgbClr val="E8EEF8"/>
          </a:solidFill>
          <a:ln/>
        </p:spPr>
      </p:sp>
      <p:sp>
        <p:nvSpPr>
          <p:cNvPr id="21" name="Text 19"/>
          <p:cNvSpPr/>
          <p:nvPr/>
        </p:nvSpPr>
        <p:spPr>
          <a:xfrm>
            <a:off x="3383280" y="164592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📊</a:t>
            </a:r>
            <a:endParaRPr lang="en-US" sz="4400" dirty="0"/>
          </a:p>
        </p:txBody>
      </p:sp>
      <p:sp>
        <p:nvSpPr>
          <p:cNvPr id="22" name="Shape 20"/>
          <p:cNvSpPr/>
          <p:nvPr/>
        </p:nvSpPr>
        <p:spPr>
          <a:xfrm>
            <a:off x="3383280" y="3218688"/>
            <a:ext cx="137160" cy="13716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3" name="Text 21"/>
          <p:cNvSpPr/>
          <p:nvPr/>
        </p:nvSpPr>
        <p:spPr>
          <a:xfrm>
            <a:off x="3593592" y="318211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donor cards grid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383280" y="3602736"/>
            <a:ext cx="137160" cy="13716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5" name="Text 23"/>
          <p:cNvSpPr/>
          <p:nvPr/>
        </p:nvSpPr>
        <p:spPr>
          <a:xfrm>
            <a:off x="3593592" y="35661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search bar at top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383280" y="3986784"/>
            <a:ext cx="137160" cy="13716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7" name="Text 25"/>
          <p:cNvSpPr/>
          <p:nvPr/>
        </p:nvSpPr>
        <p:spPr>
          <a:xfrm>
            <a:off x="3593592" y="395020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or city-based filters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383280" y="4370832"/>
            <a:ext cx="137160" cy="13716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9" name="Text 27"/>
          <p:cNvSpPr/>
          <p:nvPr/>
        </p:nvSpPr>
        <p:spPr>
          <a:xfrm>
            <a:off x="3593592" y="433425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Urgent request highlights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126480" y="1005840"/>
            <a:ext cx="2651760" cy="3931920"/>
          </a:xfrm>
          <a:prstGeom prst="rect">
            <a:avLst/>
          </a:prstGeom>
          <a:solidFill>
            <a:srgbClr val="F7FAFC"/>
          </a:solidFill>
          <a:ln/>
          <a:effectLst>
            <a:outerShdw sx="100000" sy="100000" kx="0" ky="0" algn="bl" rotWithShape="0" blurRad="76200" dist="25400" dir="8100000">
              <a:srgbClr val="1E3A8A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26480" y="1005840"/>
            <a:ext cx="2651760" cy="54864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2" name="Text 30"/>
          <p:cNvSpPr/>
          <p:nvPr/>
        </p:nvSpPr>
        <p:spPr>
          <a:xfrm>
            <a:off x="6217920" y="10058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Donor Profile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263640" y="1645920"/>
            <a:ext cx="2377440" cy="1463040"/>
          </a:xfrm>
          <a:prstGeom prst="rect">
            <a:avLst/>
          </a:prstGeom>
          <a:solidFill>
            <a:srgbClr val="E8EEF8"/>
          </a:solidFill>
          <a:ln/>
        </p:spPr>
      </p:sp>
      <p:sp>
        <p:nvSpPr>
          <p:cNvPr id="34" name="Text 32"/>
          <p:cNvSpPr/>
          <p:nvPr/>
        </p:nvSpPr>
        <p:spPr>
          <a:xfrm>
            <a:off x="6263640" y="164592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👤</a:t>
            </a:r>
            <a:endParaRPr lang="en-US" sz="4400" dirty="0"/>
          </a:p>
        </p:txBody>
      </p:sp>
      <p:sp>
        <p:nvSpPr>
          <p:cNvPr id="35" name="Shape 33"/>
          <p:cNvSpPr/>
          <p:nvPr/>
        </p:nvSpPr>
        <p:spPr>
          <a:xfrm>
            <a:off x="6263640" y="3218688"/>
            <a:ext cx="137160" cy="13716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36" name="Text 34"/>
          <p:cNvSpPr/>
          <p:nvPr/>
        </p:nvSpPr>
        <p:spPr>
          <a:xfrm>
            <a:off x="6473952" y="318211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photo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263640" y="3602736"/>
            <a:ext cx="137160" cy="13716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38" name="Text 36"/>
          <p:cNvSpPr/>
          <p:nvPr/>
        </p:nvSpPr>
        <p:spPr>
          <a:xfrm>
            <a:off x="6473952" y="35661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Blood group badge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263640" y="3986784"/>
            <a:ext cx="137160" cy="13716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40" name="Text 38"/>
          <p:cNvSpPr/>
          <p:nvPr/>
        </p:nvSpPr>
        <p:spPr>
          <a:xfrm>
            <a:off x="6473952" y="395020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Availability status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263640" y="4370832"/>
            <a:ext cx="137160" cy="13716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42" name="Text 40"/>
          <p:cNvSpPr/>
          <p:nvPr/>
        </p:nvSpPr>
        <p:spPr>
          <a:xfrm>
            <a:off x="6473952" y="433425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contact button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/  UX PRINCIPLES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65176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1E3A8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2651760" cy="54864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0700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423160" y="118872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75488" y="166420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First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" y="201168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search bar is the hero element. Donors must be findable in 2 taps or less.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46120" y="1097280"/>
            <a:ext cx="265176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1E3A8A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097280"/>
            <a:ext cx="265176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2" name="Text 10"/>
          <p:cNvSpPr/>
          <p:nvPr/>
        </p:nvSpPr>
        <p:spPr>
          <a:xfrm>
            <a:off x="3337560" y="120700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303520" y="118872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355848" y="166420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Minimal Steps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55848" y="201168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opening the app to contacting a donor: 3 steps maximum.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26480" y="1097280"/>
            <a:ext cx="265176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1E3A8A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097280"/>
            <a:ext cx="2651760" cy="54864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0" y="120700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📍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183880" y="118872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236208" y="166420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Location-Based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36208" y="201168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 and proximity filters surface the nearest available donors automatically.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3017520"/>
            <a:ext cx="265176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1E3A8A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017520"/>
            <a:ext cx="265176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12724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2423160" y="310896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75488" y="358444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Mobile-First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75488" y="393192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interfaces are designed for mobile screens before scaling to desktop.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46120" y="3017520"/>
            <a:ext cx="265176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1E3A8A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46120" y="3017520"/>
            <a:ext cx="2651760" cy="54864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0" name="Text 28"/>
          <p:cNvSpPr/>
          <p:nvPr/>
        </p:nvSpPr>
        <p:spPr>
          <a:xfrm>
            <a:off x="3337560" y="312724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5303520" y="310896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3355848" y="358444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Load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355848" y="393192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screen loads in under 2 seconds. Lazy-load images, prioritize text.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126480" y="3017520"/>
            <a:ext cx="265176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1E3A8A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26480" y="3017520"/>
            <a:ext cx="2651760" cy="54864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6" name="Text 34"/>
          <p:cNvSpPr/>
          <p:nvPr/>
        </p:nvSpPr>
        <p:spPr>
          <a:xfrm>
            <a:off x="6217920" y="312724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♿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8183880" y="310896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6236208" y="358444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Accessible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236208" y="393192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contrast, large touch targets, readable fonts — usable by everyone.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0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1E3A8A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2A9D8F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BRAND POSITIONING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0" y="731520"/>
            <a:ext cx="2194560" cy="2194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926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Zariya is not just a system.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457200" y="3456432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B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a life connection network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9B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powered by trust, speed, and humanity.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2286000" y="4480560"/>
            <a:ext cx="4572000" cy="47548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9" name="Text 6"/>
          <p:cNvSpPr/>
          <p:nvPr/>
        </p:nvSpPr>
        <p:spPr>
          <a:xfrm>
            <a:off x="2286000" y="4480560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6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BRIDGE OF LIFE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Zariya Brand Playbook</dc:title>
  <dc:subject>PptxGenJS Presentation</dc:subject>
  <dc:creator>Zariya Digital Donor Portal</dc:creator>
  <cp:lastModifiedBy>Zariya Digital Donor Portal</cp:lastModifiedBy>
  <cp:revision>1</cp:revision>
  <dcterms:created xsi:type="dcterms:W3CDTF">2026-05-25T06:01:22Z</dcterms:created>
  <dcterms:modified xsi:type="dcterms:W3CDTF">2026-05-25T06:01:22Z</dcterms:modified>
</cp:coreProperties>
</file>